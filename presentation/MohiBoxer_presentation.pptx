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12064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600" b="1">
                <a:solidFill>
                  <a:srgbClr val="F5EFE2"/>
                </a:solidFill>
                <a:latin typeface="Georgia"/>
              </a:rPr>
              <a:t>MohiBoxer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44752"/>
            <a:ext cx="62179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0">
                <a:solidFill>
                  <a:srgbClr val="B0BCB5"/>
                </a:solidFill>
                <a:latin typeface="Aptos"/>
              </a:rPr>
              <a:t>Ein KI-Agent für Atari Boxing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743200"/>
            <a:ext cx="28346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834640"/>
            <a:ext cx="2560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E822A"/>
                </a:solidFill>
                <a:latin typeface="Aptos"/>
              </a:rPr>
              <a:t>99.2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1927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B0BCB5"/>
                </a:solidFill>
                <a:latin typeface="Aptos"/>
              </a:rPr>
              <a:t>Durchschnitt über 5 Spiele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743200"/>
            <a:ext cx="28346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2834640"/>
            <a:ext cx="2560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E822A"/>
                </a:solidFill>
                <a:latin typeface="Aptos"/>
              </a:rPr>
              <a:t>100.0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331927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B0BCB5"/>
                </a:solidFill>
                <a:latin typeface="Aptos"/>
              </a:rPr>
              <a:t>bestes 10-Spiele-Ergebnis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743200"/>
            <a:ext cx="28346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834640"/>
            <a:ext cx="2560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E822A"/>
                </a:solidFill>
                <a:latin typeface="Aptos"/>
              </a:rPr>
              <a:t>5 Videos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31927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B0BCB5"/>
                </a:solidFill>
                <a:latin typeface="Aptos"/>
              </a:rPr>
              <a:t>Evaluation dokumentiert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715000"/>
            <a:ext cx="841248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B0BCB5"/>
                </a:solidFill>
                <a:latin typeface="Aptos"/>
              </a:rPr>
              <a:t>Ziel: den eingebauten Atari-Gegner möglichst stark schlagen.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DE822A"/>
                </a:solidFill>
                <a:latin typeface="Aptos"/>
              </a:rPr>
              <a:t>ZIEL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5EFE2"/>
                </a:solidFill>
                <a:latin typeface="Georgia"/>
              </a:rPr>
              <a:t>Der Agent soll gut Boxing spielen.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789920" cy="16459"/>
          </a:xfrm>
          <a:prstGeom prst="rect">
            <a:avLst/>
          </a:prstGeom>
          <a:solidFill>
            <a:srgbClr val="48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017520" cy="123444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73152" cy="1234440"/>
          </a:xfrm>
          <a:prstGeom prst="rect">
            <a:avLst/>
          </a:prstGeom>
          <a:solidFill>
            <a:srgbClr val="22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130552"/>
            <a:ext cx="2651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Wahrnehmung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569464"/>
            <a:ext cx="2651760" cy="521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Wo bin ich? Wo steht der Gegner?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65960"/>
            <a:ext cx="3017520" cy="123444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965960"/>
            <a:ext cx="73152" cy="1234440"/>
          </a:xfrm>
          <a:prstGeom prst="rect">
            <a:avLst/>
          </a:prstGeom>
          <a:solidFill>
            <a:srgbClr val="DE8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130552"/>
            <a:ext cx="2651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Entscheidung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569464"/>
            <a:ext cx="2651760" cy="521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Bewegen, schlagen oder warten?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965960"/>
            <a:ext cx="3017520" cy="123444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1965960"/>
            <a:ext cx="73152" cy="1234440"/>
          </a:xfrm>
          <a:prstGeom prst="rect">
            <a:avLst/>
          </a:prstGeom>
          <a:solidFill>
            <a:srgbClr val="22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1856" y="2130552"/>
            <a:ext cx="2651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6" y="2569464"/>
            <a:ext cx="2651760" cy="521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Aus Beispielen lernen und besser werden.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89120"/>
            <a:ext cx="9418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F5EFE2"/>
                </a:solidFill>
                <a:latin typeface="Georgia"/>
              </a:rPr>
              <a:t>Die eigentliche Aufgabe: aus Spielbildern sinnvolle Aktionen machen.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DE822A"/>
                </a:solidFill>
                <a:latin typeface="Aptos"/>
              </a:rPr>
              <a:t>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5EFE2"/>
                </a:solidFill>
                <a:latin typeface="Georgia"/>
              </a:rPr>
              <a:t>Der Agent sieht vereinfachte Spielbilder.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789920" cy="16459"/>
          </a:xfrm>
          <a:prstGeom prst="rect">
            <a:avLst/>
          </a:prstGeom>
          <a:solidFill>
            <a:srgbClr val="48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246120" cy="141732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73152" cy="1417320"/>
          </a:xfrm>
          <a:prstGeom prst="rect">
            <a:avLst/>
          </a:prstGeom>
          <a:solidFill>
            <a:srgbClr val="22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1993392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1. Graustufen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432304"/>
            <a:ext cx="2880360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Farbe ist nicht wichtig genug, deshalb wird das Bild grau.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46120" cy="141732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73152" cy="1417320"/>
          </a:xfrm>
          <a:prstGeom prst="rect">
            <a:avLst/>
          </a:prstGeom>
          <a:solidFill>
            <a:srgbClr val="DE8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993392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2. 84x84 Pixel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432304"/>
            <a:ext cx="2880360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Das Bild wird kleiner, damit das Training schneller 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2971800" cy="141732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28800"/>
            <a:ext cx="73152" cy="1417320"/>
          </a:xfrm>
          <a:prstGeom prst="rect">
            <a:avLst/>
          </a:prstGeom>
          <a:solidFill>
            <a:srgbClr val="22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993392"/>
            <a:ext cx="2606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3. Vier 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432304"/>
            <a:ext cx="2606040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Mehrere Bilder zeigen Bewegung und Richtung.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251960"/>
            <a:ext cx="32918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4343400"/>
            <a:ext cx="3017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E822A"/>
                </a:solidFill>
                <a:latin typeface="Aptos"/>
              </a:rPr>
              <a:t>4 x 84 x 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828032"/>
            <a:ext cx="3017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B0BCB5"/>
                </a:solidFill>
                <a:latin typeface="Aptos"/>
              </a:rPr>
              <a:t>Input-Form des Modells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4160520"/>
            <a:ext cx="4389120" cy="114300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0" y="4160520"/>
            <a:ext cx="73152" cy="1143000"/>
          </a:xfrm>
          <a:prstGeom prst="rect">
            <a:avLst/>
          </a:prstGeom>
          <a:solidFill>
            <a:srgbClr val="DE8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8736" y="4325112"/>
            <a:ext cx="402335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Einfach gesagt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8736" y="4764024"/>
            <a:ext cx="4023359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Der Agent bekommt eine kleine Schwarz-Weiß-Kurzsequenz vom Spiel.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DE822A"/>
                </a:solidFill>
                <a:latin typeface="Aptos"/>
              </a:rPr>
              <a:t>AKTIONEN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5EFE2"/>
                </a:solidFill>
                <a:latin typeface="Georgia"/>
              </a:rPr>
              <a:t>Das Modell bewertet 18 Möglichkeiten.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789920" cy="16459"/>
          </a:xfrm>
          <a:prstGeom prst="rect">
            <a:avLst/>
          </a:prstGeom>
          <a:solidFill>
            <a:srgbClr val="48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28346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2560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E822A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50591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B0BCB5"/>
                </a:solidFill>
                <a:latin typeface="Aptos"/>
              </a:rPr>
              <a:t>mögliche Aktionen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828800"/>
            <a:ext cx="4069080" cy="12801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7639" y="1828800"/>
            <a:ext cx="73152" cy="1280160"/>
          </a:xfrm>
          <a:prstGeom prst="rect">
            <a:avLst/>
          </a:prstGeom>
          <a:solidFill>
            <a:srgbClr val="DE8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97096" y="1993392"/>
            <a:ext cx="3703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Beispiele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7096" y="2432304"/>
            <a:ext cx="3703320" cy="5669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stehen bleiben, bewegen, schlagen, bewegen + schlagen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3703320"/>
            <a:ext cx="5394960" cy="132588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7639" y="3703320"/>
            <a:ext cx="73152" cy="1325880"/>
          </a:xfrm>
          <a:prstGeom prst="rect">
            <a:avLst/>
          </a:prstGeom>
          <a:solidFill>
            <a:srgbClr val="22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97096" y="3867911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Entscheidung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7096" y="4306824"/>
            <a:ext cx="5029200" cy="6126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Das Modell gibt 18 Werte aus. Der höchste Wert wird als Aktion genommen.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59552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0">
                <a:solidFill>
                  <a:srgbClr val="B0BCB5"/>
                </a:solidFill>
                <a:latin typeface="Aptos"/>
              </a:rPr>
              <a:t>Regel beim Spielen: höchste Bewertung = nächste Aktion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DE822A"/>
                </a:solidFill>
                <a:latin typeface="Aptos"/>
              </a:rPr>
              <a:t>ERSTER ANSATZ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5EFE2"/>
                </a:solidFill>
                <a:latin typeface="Georgia"/>
              </a:rPr>
              <a:t>Reines Ausprobieren war zu langsam.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789920" cy="16459"/>
          </a:xfrm>
          <a:prstGeom prst="rect">
            <a:avLst/>
          </a:prstGeom>
          <a:solidFill>
            <a:srgbClr val="48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EFE2"/>
                </a:solidFill>
                <a:latin typeface="Aptos"/>
              </a:defRPr>
            </a:pPr>
            <a:r>
              <a:t>DQN / DDQN als klassischer RL-Ansatz</a:t>
            </a:r>
          </a:p>
          <a:p>
            <a:pPr>
              <a:spcAft>
                <a:spcPts val="1000"/>
              </a:spcAft>
              <a:defRPr sz="2000">
                <a:solidFill>
                  <a:srgbClr val="F5EFE2"/>
                </a:solidFill>
                <a:latin typeface="Aptos"/>
              </a:defRPr>
            </a:pPr>
            <a:r>
              <a:t>Agent probiert Aktionen aus</a:t>
            </a:r>
          </a:p>
          <a:p>
            <a:pPr>
              <a:spcAft>
                <a:spcPts val="1000"/>
              </a:spcAft>
              <a:defRPr sz="2000">
                <a:solidFill>
                  <a:srgbClr val="F5EFE2"/>
                </a:solidFill>
                <a:latin typeface="Aptos"/>
              </a:defRPr>
            </a:pPr>
            <a:r>
              <a:t>Replay Memory speichert Erfahrungen</a:t>
            </a:r>
          </a:p>
          <a:p>
            <a:pPr>
              <a:spcAft>
                <a:spcPts val="1000"/>
              </a:spcAft>
              <a:defRPr sz="2000">
                <a:solidFill>
                  <a:srgbClr val="F5EFE2"/>
                </a:solidFill>
                <a:latin typeface="Aptos"/>
              </a:defRPr>
            </a:pPr>
            <a:r>
              <a:t>Epsilon-Greedy sorgt für Exploration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331720"/>
            <a:ext cx="4023360" cy="182880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2331720"/>
            <a:ext cx="73152" cy="1828800"/>
          </a:xfrm>
          <a:prstGeom prst="rect">
            <a:avLst/>
          </a:prstGeom>
          <a:solidFill>
            <a:srgbClr val="DE8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03136" y="2496312"/>
            <a:ext cx="3657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3136" y="2935224"/>
            <a:ext cx="3657600" cy="11155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Bei Atari Boxing dauert es sehr lange, bis ein Agent nur durch Ausprobieren gute Taktik lernt.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DE822A"/>
                </a:solidFill>
                <a:latin typeface="Aptos"/>
              </a:rPr>
              <a:t>FINALER ANSATZ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5EFE2"/>
                </a:solidFill>
                <a:latin typeface="Georgia"/>
              </a:rPr>
              <a:t>Der Student lernt von einem starken Teacher.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789920" cy="16459"/>
          </a:xfrm>
          <a:prstGeom prst="rect">
            <a:avLst/>
          </a:prstGeom>
          <a:solidFill>
            <a:srgbClr val="48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108960" cy="132588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73152" cy="1325880"/>
          </a:xfrm>
          <a:prstGeom prst="rect">
            <a:avLst/>
          </a:prstGeom>
          <a:solidFill>
            <a:srgbClr val="22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084832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Teacher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523744"/>
            <a:ext cx="2743200" cy="6126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Ein bereits starker Agent zeigt gute Aktionen.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20240"/>
            <a:ext cx="3291840" cy="132588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920240"/>
            <a:ext cx="73152" cy="1325880"/>
          </a:xfrm>
          <a:prstGeom prst="rect">
            <a:avLst/>
          </a:prstGeom>
          <a:solidFill>
            <a:srgbClr val="DE8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084832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523744"/>
            <a:ext cx="2926080" cy="6126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Unser Keras-Modell lernt diese Aktionen nachzumachen.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920240"/>
            <a:ext cx="2926080" cy="132588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920240"/>
            <a:ext cx="73152" cy="1325880"/>
          </a:xfrm>
          <a:prstGeom prst="rect">
            <a:avLst/>
          </a:prstGeom>
          <a:solidFill>
            <a:srgbClr val="22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208483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Vorteil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523744"/>
            <a:ext cx="2560320" cy="6126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Das ist schneller als alles komplett selbst herauszufinden.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93268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F5EFE2"/>
                </a:solidFill>
                <a:latin typeface="Georgia"/>
              </a:rPr>
              <a:t>Merksatz: nicht blind ausprobieren, sondern von guten Beispielen lernen.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DE822A"/>
                </a:solidFill>
                <a:latin typeface="Aptos"/>
              </a:rPr>
              <a:t>TRAININGSABLAUF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5EFE2"/>
                </a:solidFill>
                <a:latin typeface="Georgia"/>
              </a:rPr>
              <a:t>Spielen, lernen, korrigieren, erneut testen.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789920" cy="16459"/>
          </a:xfrm>
          <a:prstGeom prst="rect">
            <a:avLst/>
          </a:prstGeom>
          <a:solidFill>
            <a:srgbClr val="48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0632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1051560"/>
          </a:xfrm>
          <a:prstGeom prst="rect">
            <a:avLst/>
          </a:prstGeom>
          <a:solidFill>
            <a:srgbClr val="22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93392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432304"/>
            <a:ext cx="2697480" cy="3383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F5EFE2"/>
                </a:solidFill>
                <a:latin typeface="Aptos"/>
              </a:rPr>
              <a:t>Teacher spielt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0632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73152" cy="1051560"/>
          </a:xfrm>
          <a:prstGeom prst="rect">
            <a:avLst/>
          </a:prstGeom>
          <a:solidFill>
            <a:srgbClr val="DE8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1993392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432304"/>
            <a:ext cx="2697480" cy="3383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F5EFE2"/>
                </a:solidFill>
                <a:latin typeface="Aptos"/>
              </a:rPr>
              <a:t>Aktionen speichern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0632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73152" cy="1051560"/>
          </a:xfrm>
          <a:prstGeom prst="rect">
            <a:avLst/>
          </a:prstGeom>
          <a:solidFill>
            <a:srgbClr val="22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1993392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432304"/>
            <a:ext cx="2697480" cy="3383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F5EFE2"/>
                </a:solidFill>
                <a:latin typeface="Aptos"/>
              </a:rPr>
              <a:t>Student lernt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30632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611880"/>
            <a:ext cx="73152" cy="1051560"/>
          </a:xfrm>
          <a:prstGeom prst="rect">
            <a:avLst/>
          </a:prstGeom>
          <a:solidFill>
            <a:srgbClr val="DE8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776472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215384"/>
            <a:ext cx="2697480" cy="3383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F5EFE2"/>
                </a:solidFill>
                <a:latin typeface="Aptos"/>
              </a:rPr>
              <a:t>Student spielt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611880"/>
            <a:ext cx="30632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611880"/>
            <a:ext cx="73152" cy="1051560"/>
          </a:xfrm>
          <a:prstGeom prst="rect">
            <a:avLst/>
          </a:prstGeom>
          <a:solidFill>
            <a:srgbClr val="22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3776472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4215384"/>
            <a:ext cx="2697480" cy="3383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F5EFE2"/>
                </a:solidFill>
                <a:latin typeface="Aptos"/>
              </a:rPr>
              <a:t>Teacher korrigiert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611880"/>
            <a:ext cx="30632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611880"/>
            <a:ext cx="73152" cy="1051560"/>
          </a:xfrm>
          <a:prstGeom prst="rect">
            <a:avLst/>
          </a:prstGeom>
          <a:solidFill>
            <a:srgbClr val="DE8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6" y="3776472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4215384"/>
            <a:ext cx="2697480" cy="3383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F5EFE2"/>
                </a:solidFill>
                <a:latin typeface="Aptos"/>
              </a:rPr>
              <a:t>Bestes Modell behalten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DE822A"/>
                </a:solidFill>
                <a:latin typeface="Aptos"/>
              </a:rPr>
              <a:t>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5EFE2"/>
                </a:solidFill>
                <a:latin typeface="Georgia"/>
              </a:rPr>
              <a:t>Ein CNN verarbeitet die Spielbilder.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789920" cy="16459"/>
          </a:xfrm>
          <a:prstGeom prst="rect">
            <a:avLst/>
          </a:prstGeom>
          <a:solidFill>
            <a:srgbClr val="48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657600" cy="141732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73152" cy="1417320"/>
          </a:xfrm>
          <a:prstGeom prst="rect">
            <a:avLst/>
          </a:prstGeom>
          <a:solidFill>
            <a:srgbClr val="22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93392"/>
            <a:ext cx="32918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Warum CNN?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432304"/>
            <a:ext cx="3291840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Der Input sind Bilder. CNNs erkennen Muster und Positionen gut.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828800"/>
            <a:ext cx="2926080" cy="141732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1828800"/>
            <a:ext cx="73152" cy="1417320"/>
          </a:xfrm>
          <a:prstGeom prst="rect">
            <a:avLst/>
          </a:prstGeom>
          <a:solidFill>
            <a:srgbClr val="DE8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0056" y="199339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0056" y="2432304"/>
            <a:ext cx="2560320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18 Werte, einer pro möglicher Aktion.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2926080" cy="141732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73152" cy="1417320"/>
          </a:xfrm>
          <a:prstGeom prst="rect">
            <a:avLst/>
          </a:prstGeom>
          <a:solidFill>
            <a:srgbClr val="22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9339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Größe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432304"/>
            <a:ext cx="2560320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Das Modell hat ca. 1.09 Millionen Parameter.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343400"/>
            <a:ext cx="28346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434840"/>
            <a:ext cx="2560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E822A"/>
                </a:solidFill>
                <a:latin typeface="Aptos"/>
              </a:rPr>
              <a:t>337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1947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B0BCB5"/>
                </a:solidFill>
                <a:latin typeface="Aptos"/>
              </a:rPr>
              <a:t>Trainingsrunden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4343400"/>
            <a:ext cx="28346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4434840"/>
            <a:ext cx="2560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E822A"/>
                </a:solidFill>
                <a:latin typeface="Aptos"/>
              </a:rPr>
              <a:t>20,202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91947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B0BCB5"/>
                </a:solidFill>
                <a:latin typeface="Aptos"/>
              </a:rPr>
              <a:t>gelabelte Episoden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4343400"/>
            <a:ext cx="28346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4434840"/>
            <a:ext cx="2560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E822A"/>
                </a:solidFill>
                <a:latin typeface="Aptos"/>
              </a:rPr>
              <a:t>8.97M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91947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B0BCB5"/>
                </a:solidFill>
                <a:latin typeface="Aptos"/>
              </a:rPr>
              <a:t>Trainingsbeispiele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DE822A"/>
                </a:solidFill>
                <a:latin typeface="Aptos"/>
              </a:rPr>
              <a:t>ERGEBNIS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5EFE2"/>
                </a:solidFill>
                <a:latin typeface="Georgia"/>
              </a:rPr>
              <a:t>Der Agent schlägt den Standard-Gegner fast perfekt.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789920" cy="16459"/>
          </a:xfrm>
          <a:prstGeom prst="rect">
            <a:avLst/>
          </a:prstGeom>
          <a:solidFill>
            <a:srgbClr val="48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283464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2560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E822A"/>
                </a:solidFill>
                <a:latin typeface="Aptos"/>
              </a:rPr>
              <a:t>99.2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0487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B0BCB5"/>
                </a:solidFill>
                <a:latin typeface="Aptos"/>
              </a:rPr>
              <a:t>Durchschnitt über 5 Spiele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828800"/>
            <a:ext cx="365760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920240"/>
            <a:ext cx="33832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E822A"/>
                </a:solidFill>
                <a:latin typeface="Aptos"/>
              </a:rPr>
              <a:t>98,100,100,100,98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404872"/>
            <a:ext cx="3383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B0BCB5"/>
                </a:solidFill>
                <a:latin typeface="Aptos"/>
              </a:rPr>
              <a:t>finale Rewards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828800"/>
            <a:ext cx="3017520" cy="105156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920240"/>
            <a:ext cx="27432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E822A"/>
                </a:solidFill>
                <a:latin typeface="Aptos"/>
              </a:rPr>
              <a:t>100.0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404872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B0BCB5"/>
                </a:solidFill>
                <a:latin typeface="Aptos"/>
              </a:rPr>
              <a:t>bestes 10-Spiele-Ergebnis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069080"/>
            <a:ext cx="7955279" cy="123444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4069080"/>
            <a:ext cx="73152" cy="1234440"/>
          </a:xfrm>
          <a:prstGeom prst="rect">
            <a:avLst/>
          </a:prstGeom>
          <a:solidFill>
            <a:srgbClr val="DE8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48256" y="4233672"/>
            <a:ext cx="758951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Nachweis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4672584"/>
            <a:ext cx="7589519" cy="521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Es gibt eine Reward-Kurve, eine Evaluationsdatei und fünf Videos der finalen Spiele.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DE822A"/>
                </a:solidFill>
                <a:latin typeface="Aptos"/>
              </a:rPr>
              <a:t>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5EFE2"/>
                </a:solidFill>
                <a:latin typeface="Georgia"/>
              </a:rPr>
              <a:t>Der wichtigste Erfolgsfaktor war Teacher-Student Training.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789920" cy="16459"/>
          </a:xfrm>
          <a:prstGeom prst="rect">
            <a:avLst/>
          </a:prstGeom>
          <a:solidFill>
            <a:srgbClr val="48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663440" cy="155448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73152" cy="1554480"/>
          </a:xfrm>
          <a:prstGeom prst="rect">
            <a:avLst/>
          </a:prstGeom>
          <a:solidFill>
            <a:srgbClr val="22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93392"/>
            <a:ext cx="429767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Hat funktioniert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432304"/>
            <a:ext cx="4297679" cy="8412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Teacher-Student Training, viele Daten, bestes Modell speichern.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4663440" cy="1554480"/>
          </a:xfrm>
          <a:prstGeom prst="roundRect">
            <a:avLst/>
          </a:prstGeom>
          <a:solidFill>
            <a:srgbClr val="1B2326"/>
          </a:solidFill>
          <a:ln>
            <a:solidFill>
              <a:srgbClr val="485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73152" cy="1554480"/>
          </a:xfrm>
          <a:prstGeom prst="rect">
            <a:avLst/>
          </a:prstGeom>
          <a:solidFill>
            <a:srgbClr val="DE8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993392"/>
            <a:ext cx="429767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DE822A"/>
                </a:solidFill>
                <a:latin typeface="Aptos"/>
              </a:rPr>
              <a:t>War schwierig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432304"/>
            <a:ext cx="4297679" cy="8412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5EFE2"/>
                </a:solidFill>
                <a:latin typeface="Aptos"/>
              </a:rPr>
              <a:t>Reines DDQN war langsam. GPU-Setup war kompliziert.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97840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F5EFE2"/>
                </a:solidFill>
                <a:latin typeface="Georgia"/>
              </a:rPr>
              <a:t>MohiBoxer sieht Spielbilder, nutzt ein CNN und erreicht 99.2 Punkte im finalen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